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jUFASPSAU8Tghoqmtcq2kf5Hjtg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customschemas.google.com/relationships/presentationmetadata" Target="meta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" name="Google Shape;52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3" name="Google Shape;53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7" name="Google Shape;77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78" name="Google Shape;78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02" name="Google Shape;102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2" name="Google Shape;132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33" name="Google Shape;133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3" name="Google Shape;153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54" name="Google Shape;154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4" name="Google Shape;184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85" name="Google Shape;185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6" name="Google Shape;206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07" name="Google Shape;207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1" name="Google Shape;221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22" name="Google Shape;222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9" name="Google Shape;239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40" name="Google Shape;240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4" name="Google Shape;254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55" name="Google Shape;255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0" name="Google Shape;280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81" name="Google Shape;281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4" name="Google Shape;304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05" name="Google Shape;305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7" name="Google Shape;327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28" name="Google Shape;328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eea083aef8_0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eea083aef8_0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g3eea083aef8_0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F6FF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666750" y="742950"/>
            <a:ext cx="72390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Hệ thống website quản lý sự kiện trong một trường đại học</a:t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704850" y="2047875"/>
            <a:ext cx="6667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Bài thuyết trình bảo vệ đồ án chuyên ngành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Thời lượng dự kiến: 15 phút</a:t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704850" y="3048000"/>
            <a:ext cx="4000500" cy="76200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704850" y="3524250"/>
            <a:ext cx="68580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School Events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Quản lý đăng ký, QR điểm danh, phân công và báo cáo</a:t>
            </a:r>
            <a:endParaRPr/>
          </a:p>
        </p:txBody>
      </p:sp>
      <p:pic>
        <p:nvPicPr>
          <p:cNvPr id="22" name="Google Shape;2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81875" y="1339453"/>
            <a:ext cx="4095750" cy="2559844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1"/>
          <p:cNvSpPr/>
          <p:nvPr/>
        </p:nvSpPr>
        <p:spPr>
          <a:xfrm>
            <a:off x="7381875" y="4286250"/>
            <a:ext cx="4095750" cy="1143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7667625" y="4572000"/>
            <a:ext cx="3429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Công nghệ: Next.js + Supabase</a:t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7667625" y="5048250"/>
            <a:ext cx="33337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Sinh viên thực hiện: Phú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609600" y="4000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School Events</a:t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609600" y="685800"/>
            <a:ext cx="7239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75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Lý do chọn đề tài</a:t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609600" y="1314450"/>
            <a:ext cx="819150" cy="47625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704850" y="1809750"/>
            <a:ext cx="3143250" cy="23812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704850" y="1809750"/>
            <a:ext cx="66675" cy="2381250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933450" y="2019300"/>
            <a:ext cx="2743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Bối cảnh</a:t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933450" y="2400300"/>
            <a:ext cx="2743200" cy="1714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Sự kiện trong trường đại học diễn ra thường xuyên: hội thảo, hướng nghiệp, câu lạc bộ, thể thao, văn nghệ.</a:t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4524375" y="1809750"/>
            <a:ext cx="3143250" cy="23812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4524375" y="1809750"/>
            <a:ext cx="66675" cy="2381250"/>
          </a:xfrm>
          <a:prstGeom prst="rect">
            <a:avLst/>
          </a:prstGeom>
          <a:solidFill>
            <a:srgbClr val="D97706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4752975" y="2019300"/>
            <a:ext cx="2743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Vấn đề</a:t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4752975" y="2400300"/>
            <a:ext cx="2743200" cy="1714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Quản lý bằng giấy, Excel rời hoặc tin nhắn dễ trùng dữ liệu, khó kiểm soát đăng ký và điểm danh.</a:t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8343900" y="1809750"/>
            <a:ext cx="3143250" cy="23812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8343900" y="1809750"/>
            <a:ext cx="66675" cy="2381250"/>
          </a:xfrm>
          <a:prstGeom prst="rect">
            <a:avLst/>
          </a:prstGeom>
          <a:solidFill>
            <a:srgbClr val="059669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8572500" y="2019300"/>
            <a:ext cx="2743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Nhu cầu</a:t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8572500" y="2400300"/>
            <a:ext cx="2743200" cy="1714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Cần một website tập trung để công bố, đăng ký, điểm danh và tổng hợp báo cáo sau sự kiện.</a:t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895350" y="4953000"/>
            <a:ext cx="99060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Thông điệp chính: số hóa quy trình tổ chức sự kiện giúp giảm thao tác thủ công và tăng độ chính xác của dữ liệu.</a:t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10096500" y="628650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609600" y="4000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School Events</a:t>
            </a:r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609600" y="685800"/>
            <a:ext cx="7239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75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Mục tiêu của đề tài</a:t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609600" y="1314450"/>
            <a:ext cx="819150" cy="47625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723900" y="1809750"/>
            <a:ext cx="2476500" cy="400050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895350" y="1914525"/>
            <a:ext cx="2133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Sinh viên</a:t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723900" y="2381250"/>
            <a:ext cx="2476500" cy="400050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895350" y="2486025"/>
            <a:ext cx="2133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Ban tổ chức</a:t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723900" y="2952750"/>
            <a:ext cx="2476500" cy="400050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895350" y="3057525"/>
            <a:ext cx="2133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Quản trị viên</a:t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4095750" y="1838325"/>
            <a:ext cx="95250" cy="95250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4362450" y="1762125"/>
            <a:ext cx="68580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Xây dựng website cho phép xem, tìm kiếm, lọc và đăng ký sự kiện.</a:t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4095750" y="2581275"/>
            <a:ext cx="95250" cy="95250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4362450" y="2505075"/>
            <a:ext cx="68580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Tạo QR token cho từng lượt đăng ký để phục vụ điểm danh.</a:t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4095750" y="3324225"/>
            <a:ext cx="95250" cy="95250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4362450" y="3248025"/>
            <a:ext cx="68580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Hỗ trợ quản trị: sự kiện, người tham gia, phân công, thông báo.</a:t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4095750" y="4067175"/>
            <a:ext cx="95250" cy="95250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4362450" y="3990975"/>
            <a:ext cx="68580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Thống kê số lượt đăng ký, đã điểm danh và xuất báo cáo.</a:t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10096500" y="628650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"/>
          <p:cNvSpPr/>
          <p:nvPr/>
        </p:nvSpPr>
        <p:spPr>
          <a:xfrm>
            <a:off x="609600" y="4000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School Events</a:t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609600" y="685800"/>
            <a:ext cx="7239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75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Đối tượng sử dụng</a:t>
            </a:r>
            <a:endParaRPr/>
          </a:p>
        </p:txBody>
      </p:sp>
      <p:sp>
        <p:nvSpPr>
          <p:cNvPr id="84" name="Google Shape;84;p4"/>
          <p:cNvSpPr/>
          <p:nvPr/>
        </p:nvSpPr>
        <p:spPr>
          <a:xfrm>
            <a:off x="609600" y="1314450"/>
            <a:ext cx="819150" cy="47625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"/>
          <p:cNvSpPr/>
          <p:nvPr/>
        </p:nvSpPr>
        <p:spPr>
          <a:xfrm>
            <a:off x="904875" y="1809750"/>
            <a:ext cx="3048000" cy="3048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"/>
          <p:cNvSpPr/>
          <p:nvPr/>
        </p:nvSpPr>
        <p:spPr>
          <a:xfrm>
            <a:off x="904875" y="1809750"/>
            <a:ext cx="66675" cy="3048000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"/>
          <p:cNvSpPr/>
          <p:nvPr/>
        </p:nvSpPr>
        <p:spPr>
          <a:xfrm>
            <a:off x="1133475" y="2019300"/>
            <a:ext cx="2647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Sinh viên</a:t>
            </a:r>
            <a:endParaRPr/>
          </a:p>
        </p:txBody>
      </p:sp>
      <p:sp>
        <p:nvSpPr>
          <p:cNvPr id="88" name="Google Shape;88;p4"/>
          <p:cNvSpPr/>
          <p:nvPr/>
        </p:nvSpPr>
        <p:spPr>
          <a:xfrm>
            <a:off x="1133475" y="2400300"/>
            <a:ext cx="2647950" cy="23812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Xem danh sách sự kiện, lọc theo khoa/loại, đăng ký, nhận QR và theo dõi lịch sử tham dự.</a:t>
            </a: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4572000" y="1809750"/>
            <a:ext cx="3048000" cy="3048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4572000" y="1809750"/>
            <a:ext cx="66675" cy="3048000"/>
          </a:xfrm>
          <a:prstGeom prst="rect">
            <a:avLst/>
          </a:prstGeom>
          <a:solidFill>
            <a:srgbClr val="1E3A8A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"/>
          <p:cNvSpPr/>
          <p:nvPr/>
        </p:nvSpPr>
        <p:spPr>
          <a:xfrm>
            <a:off x="4800600" y="2019300"/>
            <a:ext cx="2647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Quản trị viên</a:t>
            </a:r>
            <a:endParaRPr/>
          </a:p>
        </p:txBody>
      </p:sp>
      <p:sp>
        <p:nvSpPr>
          <p:cNvPr id="92" name="Google Shape;92;p4"/>
          <p:cNvSpPr/>
          <p:nvPr/>
        </p:nvSpPr>
        <p:spPr>
          <a:xfrm>
            <a:off x="4800600" y="2400300"/>
            <a:ext cx="2647950" cy="23812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Tạo, chỉnh sửa sự kiện, quản lý người tham gia, danh mục, báo cáo và người dùng.</a:t>
            </a: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8239125" y="1809750"/>
            <a:ext cx="3048000" cy="3048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"/>
          <p:cNvSpPr/>
          <p:nvPr/>
        </p:nvSpPr>
        <p:spPr>
          <a:xfrm>
            <a:off x="8239125" y="1809750"/>
            <a:ext cx="66675" cy="3048000"/>
          </a:xfrm>
          <a:prstGeom prst="rect">
            <a:avLst/>
          </a:prstGeom>
          <a:solidFill>
            <a:srgbClr val="059669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"/>
          <p:cNvSpPr/>
          <p:nvPr/>
        </p:nvSpPr>
        <p:spPr>
          <a:xfrm>
            <a:off x="8467725" y="2019300"/>
            <a:ext cx="2647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Ban tổ chức</a:t>
            </a:r>
            <a:endParaRPr/>
          </a:p>
        </p:txBody>
      </p:sp>
      <p:sp>
        <p:nvSpPr>
          <p:cNvPr id="96" name="Google Shape;96;p4"/>
          <p:cNvSpPr/>
          <p:nvPr/>
        </p:nvSpPr>
        <p:spPr>
          <a:xfrm>
            <a:off x="8467725" y="2400300"/>
            <a:ext cx="2647950" cy="23812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Theo dõi danh sách đăng ký, điểm danh QR, phân công nhiệm vụ và gửi thông báo.</a:t>
            </a: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952500" y="5429250"/>
            <a:ext cx="9334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Hệ thống được chia theo vai trò để mỗi nhóm người dùng chỉ tập trung vào nghiệp vụ cần thiết.</a:t>
            </a:r>
            <a:endParaRPr/>
          </a:p>
        </p:txBody>
      </p:sp>
      <p:sp>
        <p:nvSpPr>
          <p:cNvPr id="98" name="Google Shape;98;p4"/>
          <p:cNvSpPr/>
          <p:nvPr/>
        </p:nvSpPr>
        <p:spPr>
          <a:xfrm>
            <a:off x="10096500" y="628650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"/>
          <p:cNvSpPr/>
          <p:nvPr/>
        </p:nvSpPr>
        <p:spPr>
          <a:xfrm>
            <a:off x="609600" y="4000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School Events</a:t>
            </a:r>
            <a:endParaRPr/>
          </a:p>
        </p:txBody>
      </p:sp>
      <p:sp>
        <p:nvSpPr>
          <p:cNvPr id="107" name="Google Shape;107;p5"/>
          <p:cNvSpPr/>
          <p:nvPr/>
        </p:nvSpPr>
        <p:spPr>
          <a:xfrm>
            <a:off x="609600" y="685800"/>
            <a:ext cx="7239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75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Cơ sở lý thuyết</a:t>
            </a:r>
            <a:endParaRPr/>
          </a:p>
        </p:txBody>
      </p:sp>
      <p:sp>
        <p:nvSpPr>
          <p:cNvPr id="108" name="Google Shape;108;p5"/>
          <p:cNvSpPr/>
          <p:nvPr/>
        </p:nvSpPr>
        <p:spPr>
          <a:xfrm>
            <a:off x="609600" y="1314450"/>
            <a:ext cx="819150" cy="47625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"/>
          <p:cNvSpPr/>
          <p:nvPr/>
        </p:nvSpPr>
        <p:spPr>
          <a:xfrm>
            <a:off x="762000" y="1666875"/>
            <a:ext cx="3333750" cy="166687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"/>
          <p:cNvSpPr/>
          <p:nvPr/>
        </p:nvSpPr>
        <p:spPr>
          <a:xfrm>
            <a:off x="762000" y="1666875"/>
            <a:ext cx="66675" cy="1666875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"/>
          <p:cNvSpPr/>
          <p:nvPr/>
        </p:nvSpPr>
        <p:spPr>
          <a:xfrm>
            <a:off x="990600" y="1876425"/>
            <a:ext cx="29337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Hệ thống thông tin quản lý</a:t>
            </a:r>
            <a:endParaRPr/>
          </a:p>
        </p:txBody>
      </p:sp>
      <p:sp>
        <p:nvSpPr>
          <p:cNvPr id="112" name="Google Shape;112;p5"/>
          <p:cNvSpPr/>
          <p:nvPr/>
        </p:nvSpPr>
        <p:spPr>
          <a:xfrm>
            <a:off x="990600" y="2257425"/>
            <a:ext cx="2933700" cy="10001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Thu thập, xử lý, lưu trữ và cung cấp thông tin phục vụ điều hành.</a:t>
            </a:r>
            <a:endParaRPr/>
          </a:p>
        </p:txBody>
      </p:sp>
      <p:sp>
        <p:nvSpPr>
          <p:cNvPr id="113" name="Google Shape;113;p5"/>
          <p:cNvSpPr/>
          <p:nvPr/>
        </p:nvSpPr>
        <p:spPr>
          <a:xfrm>
            <a:off x="4429125" y="1666875"/>
            <a:ext cx="3333750" cy="166687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"/>
          <p:cNvSpPr/>
          <p:nvPr/>
        </p:nvSpPr>
        <p:spPr>
          <a:xfrm>
            <a:off x="4429125" y="1666875"/>
            <a:ext cx="66675" cy="1666875"/>
          </a:xfrm>
          <a:prstGeom prst="rect">
            <a:avLst/>
          </a:prstGeom>
          <a:solidFill>
            <a:srgbClr val="1E3A8A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"/>
          <p:cNvSpPr/>
          <p:nvPr/>
        </p:nvSpPr>
        <p:spPr>
          <a:xfrm>
            <a:off x="4657725" y="1876425"/>
            <a:ext cx="29337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Cơ sở dữ liệu quan hệ</a:t>
            </a:r>
            <a:endParaRPr/>
          </a:p>
        </p:txBody>
      </p:sp>
      <p:sp>
        <p:nvSpPr>
          <p:cNvPr id="116" name="Google Shape;116;p5"/>
          <p:cNvSpPr/>
          <p:nvPr/>
        </p:nvSpPr>
        <p:spPr>
          <a:xfrm>
            <a:off x="4657725" y="2257425"/>
            <a:ext cx="2933700" cy="10001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Tổ chức dữ liệu bằng bảng, khóa chính, khóa ngoại và ràng buộc toàn vẹn.</a:t>
            </a:r>
            <a:endParaRPr/>
          </a:p>
        </p:txBody>
      </p:sp>
      <p:sp>
        <p:nvSpPr>
          <p:cNvPr id="117" name="Google Shape;117;p5"/>
          <p:cNvSpPr/>
          <p:nvPr/>
        </p:nvSpPr>
        <p:spPr>
          <a:xfrm>
            <a:off x="8096250" y="1666875"/>
            <a:ext cx="3333750" cy="166687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8096250" y="1666875"/>
            <a:ext cx="66675" cy="1666875"/>
          </a:xfrm>
          <a:prstGeom prst="rect">
            <a:avLst/>
          </a:prstGeom>
          <a:solidFill>
            <a:srgbClr val="059669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"/>
          <p:cNvSpPr/>
          <p:nvPr/>
        </p:nvSpPr>
        <p:spPr>
          <a:xfrm>
            <a:off x="8324850" y="1876425"/>
            <a:ext cx="29337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Công nghệ QR</a:t>
            </a: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8324850" y="2257425"/>
            <a:ext cx="2933700" cy="10001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Định danh nhanh lượt đăng ký, phù hợp quy trình điểm danh tại sự kiện.</a:t>
            </a:r>
            <a:endParaRPr/>
          </a:p>
        </p:txBody>
      </p:sp>
      <p:sp>
        <p:nvSpPr>
          <p:cNvPr id="121" name="Google Shape;121;p5"/>
          <p:cNvSpPr/>
          <p:nvPr/>
        </p:nvSpPr>
        <p:spPr>
          <a:xfrm>
            <a:off x="1905000" y="3857625"/>
            <a:ext cx="3333750" cy="147637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1905000" y="3857625"/>
            <a:ext cx="66675" cy="1476375"/>
          </a:xfrm>
          <a:prstGeom prst="rect">
            <a:avLst/>
          </a:prstGeom>
          <a:solidFill>
            <a:srgbClr val="D97706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2133600" y="4067175"/>
            <a:ext cx="29337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Ứng dụng web hiện đại</a:t>
            </a:r>
            <a:endParaRPr/>
          </a:p>
        </p:txBody>
      </p:sp>
      <p:sp>
        <p:nvSpPr>
          <p:cNvPr id="124" name="Google Shape;124;p5"/>
          <p:cNvSpPr/>
          <p:nvPr/>
        </p:nvSpPr>
        <p:spPr>
          <a:xfrm>
            <a:off x="2133600" y="4448175"/>
            <a:ext cx="2933700" cy="8096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Giao diện truy cập qua trình duyệt, hỗ trợ nhiều nhóm người dùng.</a:t>
            </a:r>
            <a:endParaRPr/>
          </a:p>
        </p:txBody>
      </p:sp>
      <p:sp>
        <p:nvSpPr>
          <p:cNvPr id="125" name="Google Shape;125;p5"/>
          <p:cNvSpPr/>
          <p:nvPr/>
        </p:nvSpPr>
        <p:spPr>
          <a:xfrm>
            <a:off x="6858000" y="3857625"/>
            <a:ext cx="3333750" cy="147637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"/>
          <p:cNvSpPr/>
          <p:nvPr/>
        </p:nvSpPr>
        <p:spPr>
          <a:xfrm>
            <a:off x="6858000" y="3857625"/>
            <a:ext cx="66675" cy="1476375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"/>
          <p:cNvSpPr/>
          <p:nvPr/>
        </p:nvSpPr>
        <p:spPr>
          <a:xfrm>
            <a:off x="7086600" y="4067175"/>
            <a:ext cx="29337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Xác thực và phân quyền</a:t>
            </a:r>
            <a:endParaRPr/>
          </a:p>
        </p:txBody>
      </p:sp>
      <p:sp>
        <p:nvSpPr>
          <p:cNvPr id="128" name="Google Shape;128;p5"/>
          <p:cNvSpPr/>
          <p:nvPr/>
        </p:nvSpPr>
        <p:spPr>
          <a:xfrm>
            <a:off x="7086600" y="4448175"/>
            <a:ext cx="2933700" cy="8096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Giới hạn thao tác theo vai trò, bảo vệ dữ liệu nghiệp vụ.</a:t>
            </a:r>
            <a:endParaRPr/>
          </a:p>
        </p:txBody>
      </p:sp>
      <p:sp>
        <p:nvSpPr>
          <p:cNvPr id="129" name="Google Shape;129;p5"/>
          <p:cNvSpPr/>
          <p:nvPr/>
        </p:nvSpPr>
        <p:spPr>
          <a:xfrm>
            <a:off x="10096500" y="628650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"/>
          <p:cNvSpPr/>
          <p:nvPr/>
        </p:nvSpPr>
        <p:spPr>
          <a:xfrm>
            <a:off x="609600" y="4000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School Events</a:t>
            </a:r>
            <a:endParaRPr/>
          </a:p>
        </p:txBody>
      </p:sp>
      <p:sp>
        <p:nvSpPr>
          <p:cNvPr id="138" name="Google Shape;138;p6"/>
          <p:cNvSpPr/>
          <p:nvPr/>
        </p:nvSpPr>
        <p:spPr>
          <a:xfrm>
            <a:off x="609600" y="685800"/>
            <a:ext cx="7239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75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Công nghệ sử dụng</a:t>
            </a:r>
            <a:endParaRPr/>
          </a:p>
        </p:txBody>
      </p:sp>
      <p:sp>
        <p:nvSpPr>
          <p:cNvPr id="139" name="Google Shape;139;p6"/>
          <p:cNvSpPr/>
          <p:nvPr/>
        </p:nvSpPr>
        <p:spPr>
          <a:xfrm>
            <a:off x="609600" y="1314450"/>
            <a:ext cx="819150" cy="47625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0" name="Google Shape;14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9388" y="1571625"/>
            <a:ext cx="6466974" cy="409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6"/>
          <p:cNvSpPr/>
          <p:nvPr/>
        </p:nvSpPr>
        <p:spPr>
          <a:xfrm>
            <a:off x="7667625" y="1762125"/>
            <a:ext cx="3429000" cy="838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"/>
          <p:cNvSpPr/>
          <p:nvPr/>
        </p:nvSpPr>
        <p:spPr>
          <a:xfrm>
            <a:off x="7905750" y="1981200"/>
            <a:ext cx="2857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Next.js</a:t>
            </a:r>
            <a:endParaRPr/>
          </a:p>
        </p:txBody>
      </p:sp>
      <p:sp>
        <p:nvSpPr>
          <p:cNvPr id="143" name="Google Shape;143;p6"/>
          <p:cNvSpPr/>
          <p:nvPr/>
        </p:nvSpPr>
        <p:spPr>
          <a:xfrm>
            <a:off x="7905750" y="2362200"/>
            <a:ext cx="2857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Giao diện, điều hướng, Server Actions</a:t>
            </a:r>
            <a:endParaRPr/>
          </a:p>
        </p:txBody>
      </p:sp>
      <p:sp>
        <p:nvSpPr>
          <p:cNvPr id="144" name="Google Shape;144;p6"/>
          <p:cNvSpPr/>
          <p:nvPr/>
        </p:nvSpPr>
        <p:spPr>
          <a:xfrm>
            <a:off x="7667625" y="2952750"/>
            <a:ext cx="3429000" cy="838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"/>
          <p:cNvSpPr/>
          <p:nvPr/>
        </p:nvSpPr>
        <p:spPr>
          <a:xfrm>
            <a:off x="7905750" y="3171825"/>
            <a:ext cx="2857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Supabase</a:t>
            </a:r>
            <a:endParaRPr/>
          </a:p>
        </p:txBody>
      </p:sp>
      <p:sp>
        <p:nvSpPr>
          <p:cNvPr id="146" name="Google Shape;146;p6"/>
          <p:cNvSpPr/>
          <p:nvPr/>
        </p:nvSpPr>
        <p:spPr>
          <a:xfrm>
            <a:off x="7905750" y="3552825"/>
            <a:ext cx="2857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PostgreSQL, REST/RPC, lưu trữ dữ liệu</a:t>
            </a:r>
            <a:endParaRPr/>
          </a:p>
        </p:txBody>
      </p:sp>
      <p:sp>
        <p:nvSpPr>
          <p:cNvPr id="147" name="Google Shape;147;p6"/>
          <p:cNvSpPr/>
          <p:nvPr/>
        </p:nvSpPr>
        <p:spPr>
          <a:xfrm>
            <a:off x="7667625" y="4143375"/>
            <a:ext cx="3429000" cy="838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"/>
          <p:cNvSpPr/>
          <p:nvPr/>
        </p:nvSpPr>
        <p:spPr>
          <a:xfrm>
            <a:off x="7905750" y="4362450"/>
            <a:ext cx="2857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TypeScript + UI</a:t>
            </a:r>
            <a:endParaRPr/>
          </a:p>
        </p:txBody>
      </p:sp>
      <p:sp>
        <p:nvSpPr>
          <p:cNvPr id="149" name="Google Shape;149;p6"/>
          <p:cNvSpPr/>
          <p:nvPr/>
        </p:nvSpPr>
        <p:spPr>
          <a:xfrm>
            <a:off x="7905750" y="4743450"/>
            <a:ext cx="2952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Tạo trải nghiệm rõ ràng, dễ bảo trì</a:t>
            </a:r>
            <a:endParaRPr/>
          </a:p>
        </p:txBody>
      </p:sp>
      <p:sp>
        <p:nvSpPr>
          <p:cNvPr id="150" name="Google Shape;150;p6"/>
          <p:cNvSpPr/>
          <p:nvPr/>
        </p:nvSpPr>
        <p:spPr>
          <a:xfrm>
            <a:off x="10096500" y="628650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"/>
          <p:cNvSpPr/>
          <p:nvPr/>
        </p:nvSpPr>
        <p:spPr>
          <a:xfrm>
            <a:off x="609600" y="4000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School Events</a:t>
            </a:r>
            <a:endParaRPr/>
          </a:p>
        </p:txBody>
      </p:sp>
      <p:sp>
        <p:nvSpPr>
          <p:cNvPr id="159" name="Google Shape;159;p7"/>
          <p:cNvSpPr/>
          <p:nvPr/>
        </p:nvSpPr>
        <p:spPr>
          <a:xfrm>
            <a:off x="609600" y="685800"/>
            <a:ext cx="7239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75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Phân tích chức năng</a:t>
            </a:r>
            <a:endParaRPr/>
          </a:p>
        </p:txBody>
      </p:sp>
      <p:sp>
        <p:nvSpPr>
          <p:cNvPr id="160" name="Google Shape;160;p7"/>
          <p:cNvSpPr/>
          <p:nvPr/>
        </p:nvSpPr>
        <p:spPr>
          <a:xfrm>
            <a:off x="609600" y="1314450"/>
            <a:ext cx="819150" cy="47625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"/>
          <p:cNvSpPr/>
          <p:nvPr/>
        </p:nvSpPr>
        <p:spPr>
          <a:xfrm>
            <a:off x="742950" y="1714500"/>
            <a:ext cx="4810125" cy="3714750"/>
          </a:xfrm>
          <a:prstGeom prst="rect">
            <a:avLst/>
          </a:prstGeom>
          <a:solidFill>
            <a:srgbClr val="EFF6FF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1047750" y="2000250"/>
            <a:ext cx="2857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Luồng sinh viên</a:t>
            </a:r>
            <a:endParaRPr/>
          </a:p>
        </p:txBody>
      </p:sp>
      <p:sp>
        <p:nvSpPr>
          <p:cNvPr id="163" name="Google Shape;163;p7"/>
          <p:cNvSpPr/>
          <p:nvPr/>
        </p:nvSpPr>
        <p:spPr>
          <a:xfrm>
            <a:off x="1047750" y="2647950"/>
            <a:ext cx="95250" cy="95250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"/>
          <p:cNvSpPr/>
          <p:nvPr/>
        </p:nvSpPr>
        <p:spPr>
          <a:xfrm>
            <a:off x="1314450" y="2571750"/>
            <a:ext cx="3810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Xem danh sách sự kiện</a:t>
            </a:r>
            <a:endParaRPr/>
          </a:p>
        </p:txBody>
      </p:sp>
      <p:sp>
        <p:nvSpPr>
          <p:cNvPr id="165" name="Google Shape;165;p7"/>
          <p:cNvSpPr/>
          <p:nvPr/>
        </p:nvSpPr>
        <p:spPr>
          <a:xfrm>
            <a:off x="1047750" y="3238500"/>
            <a:ext cx="95250" cy="95250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"/>
          <p:cNvSpPr/>
          <p:nvPr/>
        </p:nvSpPr>
        <p:spPr>
          <a:xfrm>
            <a:off x="1314450" y="3162300"/>
            <a:ext cx="3810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Lọc theo khoa, loại, từ khóa</a:t>
            </a:r>
            <a:endParaRPr/>
          </a:p>
        </p:txBody>
      </p:sp>
      <p:sp>
        <p:nvSpPr>
          <p:cNvPr id="167" name="Google Shape;167;p7"/>
          <p:cNvSpPr/>
          <p:nvPr/>
        </p:nvSpPr>
        <p:spPr>
          <a:xfrm>
            <a:off x="1047750" y="3829050"/>
            <a:ext cx="95250" cy="95250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"/>
          <p:cNvSpPr/>
          <p:nvPr/>
        </p:nvSpPr>
        <p:spPr>
          <a:xfrm>
            <a:off x="1314450" y="3752850"/>
            <a:ext cx="3810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Xem chi tiết sự kiện</a:t>
            </a: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1047750" y="4419600"/>
            <a:ext cx="95250" cy="95250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"/>
          <p:cNvSpPr/>
          <p:nvPr/>
        </p:nvSpPr>
        <p:spPr>
          <a:xfrm>
            <a:off x="1314450" y="4343400"/>
            <a:ext cx="3810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Đăng ký và nhận QR token</a:t>
            </a:r>
            <a:endParaRPr/>
          </a:p>
        </p:txBody>
      </p:sp>
      <p:sp>
        <p:nvSpPr>
          <p:cNvPr id="171" name="Google Shape;171;p7"/>
          <p:cNvSpPr/>
          <p:nvPr/>
        </p:nvSpPr>
        <p:spPr>
          <a:xfrm>
            <a:off x="6477000" y="1714500"/>
            <a:ext cx="4810125" cy="3714750"/>
          </a:xfrm>
          <a:prstGeom prst="rect">
            <a:avLst/>
          </a:prstGeom>
          <a:solidFill>
            <a:srgbClr val="ECFDF5"/>
          </a:solidFill>
          <a:ln cap="flat" cmpd="sng" w="9525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6781800" y="2000250"/>
            <a:ext cx="2857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Luồng quản trị</a:t>
            </a:r>
            <a:endParaRPr/>
          </a:p>
        </p:txBody>
      </p:sp>
      <p:sp>
        <p:nvSpPr>
          <p:cNvPr id="173" name="Google Shape;173;p7"/>
          <p:cNvSpPr/>
          <p:nvPr/>
        </p:nvSpPr>
        <p:spPr>
          <a:xfrm>
            <a:off x="6781800" y="2647950"/>
            <a:ext cx="95250" cy="95250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"/>
          <p:cNvSpPr/>
          <p:nvPr/>
        </p:nvSpPr>
        <p:spPr>
          <a:xfrm>
            <a:off x="7048500" y="2571750"/>
            <a:ext cx="3810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Quản lý sự kiện và danh mục</a:t>
            </a:r>
            <a:endParaRPr/>
          </a:p>
        </p:txBody>
      </p:sp>
      <p:sp>
        <p:nvSpPr>
          <p:cNvPr id="175" name="Google Shape;175;p7"/>
          <p:cNvSpPr/>
          <p:nvPr/>
        </p:nvSpPr>
        <p:spPr>
          <a:xfrm>
            <a:off x="6781800" y="3238500"/>
            <a:ext cx="95250" cy="95250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"/>
          <p:cNvSpPr/>
          <p:nvPr/>
        </p:nvSpPr>
        <p:spPr>
          <a:xfrm>
            <a:off x="7048500" y="3162300"/>
            <a:ext cx="3810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Theo dõi người tham gia</a:t>
            </a:r>
            <a:endParaRPr/>
          </a:p>
        </p:txBody>
      </p:sp>
      <p:sp>
        <p:nvSpPr>
          <p:cNvPr id="177" name="Google Shape;177;p7"/>
          <p:cNvSpPr/>
          <p:nvPr/>
        </p:nvSpPr>
        <p:spPr>
          <a:xfrm>
            <a:off x="6781800" y="3829050"/>
            <a:ext cx="95250" cy="95250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"/>
          <p:cNvSpPr/>
          <p:nvPr/>
        </p:nvSpPr>
        <p:spPr>
          <a:xfrm>
            <a:off x="7048500" y="3752850"/>
            <a:ext cx="3810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Điểm danh bằng QR token</a:t>
            </a:r>
            <a:endParaRPr/>
          </a:p>
        </p:txBody>
      </p:sp>
      <p:sp>
        <p:nvSpPr>
          <p:cNvPr id="179" name="Google Shape;179;p7"/>
          <p:cNvSpPr/>
          <p:nvPr/>
        </p:nvSpPr>
        <p:spPr>
          <a:xfrm>
            <a:off x="6781800" y="4419600"/>
            <a:ext cx="95250" cy="95250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"/>
          <p:cNvSpPr/>
          <p:nvPr/>
        </p:nvSpPr>
        <p:spPr>
          <a:xfrm>
            <a:off x="7048500" y="4343400"/>
            <a:ext cx="3810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Phân công, thông báo, báo cáo</a:t>
            </a:r>
            <a:endParaRPr/>
          </a:p>
        </p:txBody>
      </p:sp>
      <p:sp>
        <p:nvSpPr>
          <p:cNvPr id="181" name="Google Shape;181;p7"/>
          <p:cNvSpPr/>
          <p:nvPr/>
        </p:nvSpPr>
        <p:spPr>
          <a:xfrm>
            <a:off x="10096500" y="628650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8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8"/>
          <p:cNvSpPr/>
          <p:nvPr/>
        </p:nvSpPr>
        <p:spPr>
          <a:xfrm>
            <a:off x="609600" y="4000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School Events</a:t>
            </a:r>
            <a:endParaRPr/>
          </a:p>
        </p:txBody>
      </p:sp>
      <p:sp>
        <p:nvSpPr>
          <p:cNvPr id="190" name="Google Shape;190;p8"/>
          <p:cNvSpPr/>
          <p:nvPr/>
        </p:nvSpPr>
        <p:spPr>
          <a:xfrm>
            <a:off x="609600" y="685800"/>
            <a:ext cx="7239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75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Thiết kế cơ sở dữ liệu</a:t>
            </a:r>
            <a:endParaRPr/>
          </a:p>
        </p:txBody>
      </p:sp>
      <p:sp>
        <p:nvSpPr>
          <p:cNvPr id="191" name="Google Shape;191;p8"/>
          <p:cNvSpPr/>
          <p:nvPr/>
        </p:nvSpPr>
        <p:spPr>
          <a:xfrm>
            <a:off x="609600" y="1314450"/>
            <a:ext cx="819150" cy="47625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2" name="Google Shape;19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50" y="1571625"/>
            <a:ext cx="6604000" cy="433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8"/>
          <p:cNvSpPr/>
          <p:nvPr/>
        </p:nvSpPr>
        <p:spPr>
          <a:xfrm>
            <a:off x="7953375" y="1695450"/>
            <a:ext cx="3238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Các bảng chính</a:t>
            </a:r>
            <a:endParaRPr/>
          </a:p>
        </p:txBody>
      </p:sp>
      <p:sp>
        <p:nvSpPr>
          <p:cNvPr id="194" name="Google Shape;194;p8"/>
          <p:cNvSpPr/>
          <p:nvPr/>
        </p:nvSpPr>
        <p:spPr>
          <a:xfrm>
            <a:off x="7953375" y="2190750"/>
            <a:ext cx="333375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"/>
          <p:cNvSpPr/>
          <p:nvPr/>
        </p:nvSpPr>
        <p:spPr>
          <a:xfrm>
            <a:off x="8172450" y="2324100"/>
            <a:ext cx="29051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faculties / event_categories</a:t>
            </a:r>
            <a:endParaRPr/>
          </a:p>
        </p:txBody>
      </p:sp>
      <p:sp>
        <p:nvSpPr>
          <p:cNvPr id="196" name="Google Shape;196;p8"/>
          <p:cNvSpPr/>
          <p:nvPr/>
        </p:nvSpPr>
        <p:spPr>
          <a:xfrm>
            <a:off x="7953375" y="2933700"/>
            <a:ext cx="333375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"/>
          <p:cNvSpPr/>
          <p:nvPr/>
        </p:nvSpPr>
        <p:spPr>
          <a:xfrm>
            <a:off x="8172450" y="3067050"/>
            <a:ext cx="29051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profiles / events</a:t>
            </a:r>
            <a:endParaRPr/>
          </a:p>
        </p:txBody>
      </p:sp>
      <p:sp>
        <p:nvSpPr>
          <p:cNvPr id="198" name="Google Shape;198;p8"/>
          <p:cNvSpPr/>
          <p:nvPr/>
        </p:nvSpPr>
        <p:spPr>
          <a:xfrm>
            <a:off x="7953375" y="3676650"/>
            <a:ext cx="333375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8"/>
          <p:cNvSpPr/>
          <p:nvPr/>
        </p:nvSpPr>
        <p:spPr>
          <a:xfrm>
            <a:off x="8172450" y="3810000"/>
            <a:ext cx="29051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registrations / attendances</a:t>
            </a:r>
            <a:endParaRPr/>
          </a:p>
        </p:txBody>
      </p:sp>
      <p:sp>
        <p:nvSpPr>
          <p:cNvPr id="200" name="Google Shape;200;p8"/>
          <p:cNvSpPr/>
          <p:nvPr/>
        </p:nvSpPr>
        <p:spPr>
          <a:xfrm>
            <a:off x="7953375" y="4419600"/>
            <a:ext cx="333375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8"/>
          <p:cNvSpPr/>
          <p:nvPr/>
        </p:nvSpPr>
        <p:spPr>
          <a:xfrm>
            <a:off x="8172450" y="4552950"/>
            <a:ext cx="29051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assignments / notifications</a:t>
            </a:r>
            <a:endParaRPr/>
          </a:p>
        </p:txBody>
      </p:sp>
      <p:sp>
        <p:nvSpPr>
          <p:cNvPr id="202" name="Google Shape;202;p8"/>
          <p:cNvSpPr/>
          <p:nvPr/>
        </p:nvSpPr>
        <p:spPr>
          <a:xfrm>
            <a:off x="7953375" y="5381625"/>
            <a:ext cx="32385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Ý nghĩa: dữ liệu đăng ký và điểm danh có thể truy vết theo sinh viên, sự kiện và thời gian.</a:t>
            </a:r>
            <a:endParaRPr/>
          </a:p>
        </p:txBody>
      </p:sp>
      <p:sp>
        <p:nvSpPr>
          <p:cNvPr id="203" name="Google Shape;203;p8"/>
          <p:cNvSpPr/>
          <p:nvPr/>
        </p:nvSpPr>
        <p:spPr>
          <a:xfrm>
            <a:off x="10096500" y="628650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9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9"/>
          <p:cNvSpPr/>
          <p:nvPr/>
        </p:nvSpPr>
        <p:spPr>
          <a:xfrm>
            <a:off x="609600" y="4000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School Events</a:t>
            </a:r>
            <a:endParaRPr/>
          </a:p>
        </p:txBody>
      </p:sp>
      <p:sp>
        <p:nvSpPr>
          <p:cNvPr id="212" name="Google Shape;212;p9"/>
          <p:cNvSpPr/>
          <p:nvPr/>
        </p:nvSpPr>
        <p:spPr>
          <a:xfrm>
            <a:off x="609600" y="685800"/>
            <a:ext cx="7239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75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Quy trình đăng ký và điểm danh</a:t>
            </a:r>
            <a:endParaRPr/>
          </a:p>
        </p:txBody>
      </p:sp>
      <p:sp>
        <p:nvSpPr>
          <p:cNvPr id="213" name="Google Shape;213;p9"/>
          <p:cNvSpPr/>
          <p:nvPr/>
        </p:nvSpPr>
        <p:spPr>
          <a:xfrm>
            <a:off x="609600" y="1314450"/>
            <a:ext cx="819150" cy="47625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4" name="Google Shape;21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7250" y="1595438"/>
            <a:ext cx="7143750" cy="4048125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9"/>
          <p:cNvSpPr/>
          <p:nvPr/>
        </p:nvSpPr>
        <p:spPr>
          <a:xfrm>
            <a:off x="8477250" y="1809750"/>
            <a:ext cx="2571750" cy="2857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9"/>
          <p:cNvSpPr/>
          <p:nvPr/>
        </p:nvSpPr>
        <p:spPr>
          <a:xfrm>
            <a:off x="8715375" y="2076450"/>
            <a:ext cx="2095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Điểm nhấn</a:t>
            </a:r>
            <a:endParaRPr/>
          </a:p>
        </p:txBody>
      </p:sp>
      <p:sp>
        <p:nvSpPr>
          <p:cNvPr id="217" name="Google Shape;217;p9"/>
          <p:cNvSpPr/>
          <p:nvPr/>
        </p:nvSpPr>
        <p:spPr>
          <a:xfrm>
            <a:off x="8715375" y="2590800"/>
            <a:ext cx="2095500" cy="14287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Mỗi lượt đăng ký có một QR token riêng. Token này là cầu nối giữa đăng ký và điểm danh.</a:t>
            </a:r>
            <a:endParaRPr/>
          </a:p>
        </p:txBody>
      </p:sp>
      <p:sp>
        <p:nvSpPr>
          <p:cNvPr id="218" name="Google Shape;218;p9"/>
          <p:cNvSpPr/>
          <p:nvPr/>
        </p:nvSpPr>
        <p:spPr>
          <a:xfrm>
            <a:off x="10096500" y="628650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0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0"/>
          <p:cNvSpPr/>
          <p:nvPr/>
        </p:nvSpPr>
        <p:spPr>
          <a:xfrm>
            <a:off x="609600" y="4000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School Events</a:t>
            </a:r>
            <a:endParaRPr/>
          </a:p>
        </p:txBody>
      </p:sp>
      <p:sp>
        <p:nvSpPr>
          <p:cNvPr id="227" name="Google Shape;227;p10"/>
          <p:cNvSpPr/>
          <p:nvPr/>
        </p:nvSpPr>
        <p:spPr>
          <a:xfrm>
            <a:off x="609600" y="685800"/>
            <a:ext cx="7239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75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Kết quả giao diện người dùng</a:t>
            </a:r>
            <a:endParaRPr/>
          </a:p>
        </p:txBody>
      </p:sp>
      <p:sp>
        <p:nvSpPr>
          <p:cNvPr id="228" name="Google Shape;228;p10"/>
          <p:cNvSpPr/>
          <p:nvPr/>
        </p:nvSpPr>
        <p:spPr>
          <a:xfrm>
            <a:off x="609600" y="1314450"/>
            <a:ext cx="819150" cy="47625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9" name="Google Shape;22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9125" y="1595438"/>
            <a:ext cx="3429000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1500" y="1595438"/>
            <a:ext cx="3429000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43875" y="1774031"/>
            <a:ext cx="2857500" cy="1785938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0"/>
          <p:cNvSpPr/>
          <p:nvPr/>
        </p:nvSpPr>
        <p:spPr>
          <a:xfrm>
            <a:off x="857250" y="4095750"/>
            <a:ext cx="2952750" cy="7620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Danh sách sự kiện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Tìm kiếm và lọc nhanh</a:t>
            </a:r>
            <a:endParaRPr/>
          </a:p>
        </p:txBody>
      </p:sp>
      <p:sp>
        <p:nvSpPr>
          <p:cNvPr id="233" name="Google Shape;233;p10"/>
          <p:cNvSpPr/>
          <p:nvPr/>
        </p:nvSpPr>
        <p:spPr>
          <a:xfrm>
            <a:off x="4619625" y="4095750"/>
            <a:ext cx="2952750" cy="7620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Chi tiết sự kiện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Đăng ký tham gia</a:t>
            </a:r>
            <a:endParaRPr/>
          </a:p>
        </p:txBody>
      </p:sp>
      <p:sp>
        <p:nvSpPr>
          <p:cNvPr id="234" name="Google Shape;234;p10"/>
          <p:cNvSpPr/>
          <p:nvPr/>
        </p:nvSpPr>
        <p:spPr>
          <a:xfrm>
            <a:off x="8143875" y="4095750"/>
            <a:ext cx="2857500" cy="7620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Mã QR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Điểm danh thuận tiện</a:t>
            </a:r>
            <a:endParaRPr/>
          </a:p>
        </p:txBody>
      </p:sp>
      <p:sp>
        <p:nvSpPr>
          <p:cNvPr id="235" name="Google Shape;235;p10"/>
          <p:cNvSpPr/>
          <p:nvPr/>
        </p:nvSpPr>
        <p:spPr>
          <a:xfrm>
            <a:off x="1238250" y="5381625"/>
            <a:ext cx="9334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Giao diện sinh viên ưu tiên thao tác nhanh, ít bước và rõ trạng thái.</a:t>
            </a:r>
            <a:endParaRPr/>
          </a:p>
        </p:txBody>
      </p:sp>
      <p:sp>
        <p:nvSpPr>
          <p:cNvPr id="236" name="Google Shape;236;p10"/>
          <p:cNvSpPr/>
          <p:nvPr/>
        </p:nvSpPr>
        <p:spPr>
          <a:xfrm>
            <a:off x="10096500" y="628650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1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1"/>
          <p:cNvSpPr/>
          <p:nvPr/>
        </p:nvSpPr>
        <p:spPr>
          <a:xfrm>
            <a:off x="609600" y="4000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School Events</a:t>
            </a:r>
            <a:endParaRPr/>
          </a:p>
        </p:txBody>
      </p:sp>
      <p:sp>
        <p:nvSpPr>
          <p:cNvPr id="245" name="Google Shape;245;p11"/>
          <p:cNvSpPr/>
          <p:nvPr/>
        </p:nvSpPr>
        <p:spPr>
          <a:xfrm>
            <a:off x="609600" y="685800"/>
            <a:ext cx="7239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75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Kết quả khu vực quản trị</a:t>
            </a:r>
            <a:endParaRPr/>
          </a:p>
        </p:txBody>
      </p:sp>
      <p:sp>
        <p:nvSpPr>
          <p:cNvPr id="246" name="Google Shape;246;p11"/>
          <p:cNvSpPr/>
          <p:nvPr/>
        </p:nvSpPr>
        <p:spPr>
          <a:xfrm>
            <a:off x="609600" y="1314450"/>
            <a:ext cx="819150" cy="47625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7" name="Google Shape;24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9625" y="1595438"/>
            <a:ext cx="4953000" cy="309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595438"/>
            <a:ext cx="4953000" cy="3095625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11"/>
          <p:cNvSpPr/>
          <p:nvPr/>
        </p:nvSpPr>
        <p:spPr>
          <a:xfrm>
            <a:off x="1000125" y="5000625"/>
            <a:ext cx="44767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Quản trị viên theo dõi sự kiện, người tham gia, điểm danh, phân công và thông báo.</a:t>
            </a:r>
            <a:endParaRPr/>
          </a:p>
        </p:txBody>
      </p:sp>
      <p:sp>
        <p:nvSpPr>
          <p:cNvPr id="250" name="Google Shape;250;p11"/>
          <p:cNvSpPr/>
          <p:nvPr/>
        </p:nvSpPr>
        <p:spPr>
          <a:xfrm>
            <a:off x="6524625" y="5000625"/>
            <a:ext cx="44767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Báo cáo tổng hợp lượt đăng ký, điểm danh, tỉ lệ tham gia và hỗ trợ xuất file.</a:t>
            </a:r>
            <a:endParaRPr/>
          </a:p>
        </p:txBody>
      </p:sp>
      <p:sp>
        <p:nvSpPr>
          <p:cNvPr id="251" name="Google Shape;251;p11"/>
          <p:cNvSpPr/>
          <p:nvPr/>
        </p:nvSpPr>
        <p:spPr>
          <a:xfrm>
            <a:off x="10096500" y="628650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2"/>
          <p:cNvSpPr/>
          <p:nvPr/>
        </p:nvSpPr>
        <p:spPr>
          <a:xfrm>
            <a:off x="609600" y="4000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School Events</a:t>
            </a:r>
            <a:endParaRPr/>
          </a:p>
        </p:txBody>
      </p:sp>
      <p:sp>
        <p:nvSpPr>
          <p:cNvPr id="260" name="Google Shape;260;p12"/>
          <p:cNvSpPr/>
          <p:nvPr/>
        </p:nvSpPr>
        <p:spPr>
          <a:xfrm>
            <a:off x="609600" y="685800"/>
            <a:ext cx="7239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75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Đánh giá kết quả đạt được</a:t>
            </a:r>
            <a:endParaRPr/>
          </a:p>
        </p:txBody>
      </p:sp>
      <p:sp>
        <p:nvSpPr>
          <p:cNvPr id="261" name="Google Shape;261;p12"/>
          <p:cNvSpPr/>
          <p:nvPr/>
        </p:nvSpPr>
        <p:spPr>
          <a:xfrm>
            <a:off x="609600" y="1314450"/>
            <a:ext cx="819150" cy="47625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2"/>
          <p:cNvSpPr/>
          <p:nvPr/>
        </p:nvSpPr>
        <p:spPr>
          <a:xfrm>
            <a:off x="876300" y="1809750"/>
            <a:ext cx="2143125" cy="1143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2"/>
          <p:cNvSpPr/>
          <p:nvPr/>
        </p:nvSpPr>
        <p:spPr>
          <a:xfrm>
            <a:off x="1085850" y="20002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Chức năng</a:t>
            </a:r>
            <a:endParaRPr/>
          </a:p>
        </p:txBody>
      </p:sp>
      <p:sp>
        <p:nvSpPr>
          <p:cNvPr id="264" name="Google Shape;264;p12"/>
          <p:cNvSpPr/>
          <p:nvPr/>
        </p:nvSpPr>
        <p:spPr>
          <a:xfrm>
            <a:off x="1085850" y="2343150"/>
            <a:ext cx="1619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Đủ lõi</a:t>
            </a:r>
            <a:endParaRPr/>
          </a:p>
        </p:txBody>
      </p:sp>
      <p:sp>
        <p:nvSpPr>
          <p:cNvPr id="265" name="Google Shape;265;p12"/>
          <p:cNvSpPr/>
          <p:nvPr/>
        </p:nvSpPr>
        <p:spPr>
          <a:xfrm>
            <a:off x="3619500" y="1809750"/>
            <a:ext cx="2143125" cy="1143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2"/>
          <p:cNvSpPr/>
          <p:nvPr/>
        </p:nvSpPr>
        <p:spPr>
          <a:xfrm>
            <a:off x="3829050" y="20002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Dữ liệu</a:t>
            </a:r>
            <a:endParaRPr/>
          </a:p>
        </p:txBody>
      </p:sp>
      <p:sp>
        <p:nvSpPr>
          <p:cNvPr id="267" name="Google Shape;267;p12"/>
          <p:cNvSpPr/>
          <p:nvPr/>
        </p:nvSpPr>
        <p:spPr>
          <a:xfrm>
            <a:off x="3829050" y="2343150"/>
            <a:ext cx="1619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Tập trung</a:t>
            </a:r>
            <a:endParaRPr/>
          </a:p>
        </p:txBody>
      </p:sp>
      <p:sp>
        <p:nvSpPr>
          <p:cNvPr id="268" name="Google Shape;268;p12"/>
          <p:cNvSpPr/>
          <p:nvPr/>
        </p:nvSpPr>
        <p:spPr>
          <a:xfrm>
            <a:off x="6362700" y="1809750"/>
            <a:ext cx="2143125" cy="1143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2"/>
          <p:cNvSpPr/>
          <p:nvPr/>
        </p:nvSpPr>
        <p:spPr>
          <a:xfrm>
            <a:off x="6572250" y="20002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Điểm danh</a:t>
            </a:r>
            <a:endParaRPr/>
          </a:p>
        </p:txBody>
      </p:sp>
      <p:sp>
        <p:nvSpPr>
          <p:cNvPr id="270" name="Google Shape;270;p12"/>
          <p:cNvSpPr/>
          <p:nvPr/>
        </p:nvSpPr>
        <p:spPr>
          <a:xfrm>
            <a:off x="6572250" y="2343150"/>
            <a:ext cx="1619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QR token</a:t>
            </a:r>
            <a:endParaRPr/>
          </a:p>
        </p:txBody>
      </p:sp>
      <p:sp>
        <p:nvSpPr>
          <p:cNvPr id="271" name="Google Shape;271;p12"/>
          <p:cNvSpPr/>
          <p:nvPr/>
        </p:nvSpPr>
        <p:spPr>
          <a:xfrm>
            <a:off x="9105900" y="1809750"/>
            <a:ext cx="2143125" cy="1143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2"/>
          <p:cNvSpPr/>
          <p:nvPr/>
        </p:nvSpPr>
        <p:spPr>
          <a:xfrm>
            <a:off x="9315450" y="20002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Báo cáo</a:t>
            </a:r>
            <a:endParaRPr/>
          </a:p>
        </p:txBody>
      </p:sp>
      <p:sp>
        <p:nvSpPr>
          <p:cNvPr id="273" name="Google Shape;273;p12"/>
          <p:cNvSpPr/>
          <p:nvPr/>
        </p:nvSpPr>
        <p:spPr>
          <a:xfrm>
            <a:off x="9315450" y="2343150"/>
            <a:ext cx="1619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Có xuất file</a:t>
            </a:r>
            <a:endParaRPr/>
          </a:p>
        </p:txBody>
      </p:sp>
      <p:sp>
        <p:nvSpPr>
          <p:cNvPr id="274" name="Google Shape;274;p12"/>
          <p:cNvSpPr/>
          <p:nvPr/>
        </p:nvSpPr>
        <p:spPr>
          <a:xfrm>
            <a:off x="1047750" y="3619500"/>
            <a:ext cx="9334500" cy="1143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2"/>
          <p:cNvSpPr/>
          <p:nvPr/>
        </p:nvSpPr>
        <p:spPr>
          <a:xfrm>
            <a:off x="1381125" y="3924300"/>
            <a:ext cx="86677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Hệ thống đáp ứng quy trình từ công bố sự kiện → đăng ký → nhận QR → điểm danh → thống kê báo cáo.</a:t>
            </a:r>
            <a:endParaRPr/>
          </a:p>
        </p:txBody>
      </p:sp>
      <p:sp>
        <p:nvSpPr>
          <p:cNvPr id="276" name="Google Shape;276;p12"/>
          <p:cNvSpPr/>
          <p:nvPr/>
        </p:nvSpPr>
        <p:spPr>
          <a:xfrm>
            <a:off x="1428750" y="5238750"/>
            <a:ext cx="8572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Giá trị thực tế: giảm thao tác thủ công, hạn chế sai sót và giúp nhà trường đánh giá hiệu quả hoạt động.</a:t>
            </a:r>
            <a:endParaRPr/>
          </a:p>
        </p:txBody>
      </p:sp>
      <p:sp>
        <p:nvSpPr>
          <p:cNvPr id="277" name="Google Shape;277;p12"/>
          <p:cNvSpPr/>
          <p:nvPr/>
        </p:nvSpPr>
        <p:spPr>
          <a:xfrm>
            <a:off x="10096500" y="628650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3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3"/>
          <p:cNvSpPr/>
          <p:nvPr/>
        </p:nvSpPr>
        <p:spPr>
          <a:xfrm>
            <a:off x="609600" y="4000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School Events</a:t>
            </a:r>
            <a:endParaRPr/>
          </a:p>
        </p:txBody>
      </p:sp>
      <p:sp>
        <p:nvSpPr>
          <p:cNvPr id="286" name="Google Shape;286;p13"/>
          <p:cNvSpPr/>
          <p:nvPr/>
        </p:nvSpPr>
        <p:spPr>
          <a:xfrm>
            <a:off x="609600" y="685800"/>
            <a:ext cx="7239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75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Hạn chế hiện tại</a:t>
            </a:r>
            <a:endParaRPr/>
          </a:p>
        </p:txBody>
      </p:sp>
      <p:sp>
        <p:nvSpPr>
          <p:cNvPr id="287" name="Google Shape;287;p13"/>
          <p:cNvSpPr/>
          <p:nvPr/>
        </p:nvSpPr>
        <p:spPr>
          <a:xfrm>
            <a:off x="609600" y="1314450"/>
            <a:ext cx="819150" cy="47625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3"/>
          <p:cNvSpPr/>
          <p:nvPr/>
        </p:nvSpPr>
        <p:spPr>
          <a:xfrm>
            <a:off x="1047750" y="1809750"/>
            <a:ext cx="2857500" cy="2476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3"/>
          <p:cNvSpPr/>
          <p:nvPr/>
        </p:nvSpPr>
        <p:spPr>
          <a:xfrm>
            <a:off x="1047750" y="1809750"/>
            <a:ext cx="66675" cy="2476500"/>
          </a:xfrm>
          <a:prstGeom prst="rect">
            <a:avLst/>
          </a:prstGeom>
          <a:solidFill>
            <a:srgbClr val="D97706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3"/>
          <p:cNvSpPr/>
          <p:nvPr/>
        </p:nvSpPr>
        <p:spPr>
          <a:xfrm>
            <a:off x="1276350" y="2019300"/>
            <a:ext cx="2457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QR camera</a:t>
            </a:r>
            <a:endParaRPr/>
          </a:p>
        </p:txBody>
      </p:sp>
      <p:sp>
        <p:nvSpPr>
          <p:cNvPr id="291" name="Google Shape;291;p13"/>
          <p:cNvSpPr/>
          <p:nvPr/>
        </p:nvSpPr>
        <p:spPr>
          <a:xfrm>
            <a:off x="1276350" y="2400300"/>
            <a:ext cx="2457450" cy="18097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Chức năng điểm danh hiện tập trung vào token, chưa tích hợp đầy đủ camera trên thiết bị di động.</a:t>
            </a:r>
            <a:endParaRPr/>
          </a:p>
        </p:txBody>
      </p:sp>
      <p:sp>
        <p:nvSpPr>
          <p:cNvPr id="292" name="Google Shape;292;p13"/>
          <p:cNvSpPr/>
          <p:nvPr/>
        </p:nvSpPr>
        <p:spPr>
          <a:xfrm>
            <a:off x="4667250" y="1809750"/>
            <a:ext cx="2857500" cy="2476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3"/>
          <p:cNvSpPr/>
          <p:nvPr/>
        </p:nvSpPr>
        <p:spPr>
          <a:xfrm>
            <a:off x="4667250" y="1809750"/>
            <a:ext cx="66675" cy="2476500"/>
          </a:xfrm>
          <a:prstGeom prst="rect">
            <a:avLst/>
          </a:prstGeom>
          <a:solidFill>
            <a:srgbClr val="D97706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3"/>
          <p:cNvSpPr/>
          <p:nvPr/>
        </p:nvSpPr>
        <p:spPr>
          <a:xfrm>
            <a:off x="4895850" y="2019300"/>
            <a:ext cx="2457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Phân quyền</a:t>
            </a:r>
            <a:endParaRPr/>
          </a:p>
        </p:txBody>
      </p:sp>
      <p:sp>
        <p:nvSpPr>
          <p:cNvPr id="295" name="Google Shape;295;p13"/>
          <p:cNvSpPr/>
          <p:nvPr/>
        </p:nvSpPr>
        <p:spPr>
          <a:xfrm>
            <a:off x="4895850" y="2400300"/>
            <a:ext cx="2457450" cy="18097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Vai trò còn ở mức cơ bản, chưa có ma trận quyền chi tiết cho từng đơn vị.</a:t>
            </a:r>
            <a:endParaRPr/>
          </a:p>
        </p:txBody>
      </p:sp>
      <p:sp>
        <p:nvSpPr>
          <p:cNvPr id="296" name="Google Shape;296;p13"/>
          <p:cNvSpPr/>
          <p:nvPr/>
        </p:nvSpPr>
        <p:spPr>
          <a:xfrm>
            <a:off x="8286750" y="1809750"/>
            <a:ext cx="2857500" cy="2476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3"/>
          <p:cNvSpPr/>
          <p:nvPr/>
        </p:nvSpPr>
        <p:spPr>
          <a:xfrm>
            <a:off x="8286750" y="1809750"/>
            <a:ext cx="66675" cy="2476500"/>
          </a:xfrm>
          <a:prstGeom prst="rect">
            <a:avLst/>
          </a:prstGeom>
          <a:solidFill>
            <a:srgbClr val="D97706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3"/>
          <p:cNvSpPr/>
          <p:nvPr/>
        </p:nvSpPr>
        <p:spPr>
          <a:xfrm>
            <a:off x="8515350" y="2019300"/>
            <a:ext cx="2457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Tích hợp ngoài</a:t>
            </a:r>
            <a:endParaRPr/>
          </a:p>
        </p:txBody>
      </p:sp>
      <p:sp>
        <p:nvSpPr>
          <p:cNvPr id="299" name="Google Shape;299;p13"/>
          <p:cNvSpPr/>
          <p:nvPr/>
        </p:nvSpPr>
        <p:spPr>
          <a:xfrm>
            <a:off x="8515350" y="2400300"/>
            <a:ext cx="2457450" cy="18097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Chưa có email thực tế, thông báo đẩy thời gian thực và kiểm thử tải lớn.</a:t>
            </a:r>
            <a:endParaRPr/>
          </a:p>
        </p:txBody>
      </p:sp>
      <p:sp>
        <p:nvSpPr>
          <p:cNvPr id="300" name="Google Shape;300;p13"/>
          <p:cNvSpPr/>
          <p:nvPr/>
        </p:nvSpPr>
        <p:spPr>
          <a:xfrm>
            <a:off x="1143000" y="5095875"/>
            <a:ext cx="9525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Các hạn chế này là cơ sở để xác định hướng phát triển sau đồ án.</a:t>
            </a:r>
            <a:endParaRPr/>
          </a:p>
        </p:txBody>
      </p:sp>
      <p:sp>
        <p:nvSpPr>
          <p:cNvPr id="301" name="Google Shape;301;p13"/>
          <p:cNvSpPr/>
          <p:nvPr/>
        </p:nvSpPr>
        <p:spPr>
          <a:xfrm>
            <a:off x="10096500" y="628650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4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4"/>
          <p:cNvSpPr/>
          <p:nvPr/>
        </p:nvSpPr>
        <p:spPr>
          <a:xfrm>
            <a:off x="609600" y="4000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School Events</a:t>
            </a:r>
            <a:endParaRPr/>
          </a:p>
        </p:txBody>
      </p:sp>
      <p:sp>
        <p:nvSpPr>
          <p:cNvPr id="310" name="Google Shape;310;p14"/>
          <p:cNvSpPr/>
          <p:nvPr/>
        </p:nvSpPr>
        <p:spPr>
          <a:xfrm>
            <a:off x="609600" y="685800"/>
            <a:ext cx="7239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75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Hướng phát triển</a:t>
            </a:r>
            <a:endParaRPr/>
          </a:p>
        </p:txBody>
      </p:sp>
      <p:sp>
        <p:nvSpPr>
          <p:cNvPr id="311" name="Google Shape;311;p14"/>
          <p:cNvSpPr/>
          <p:nvPr/>
        </p:nvSpPr>
        <p:spPr>
          <a:xfrm>
            <a:off x="609600" y="1314450"/>
            <a:ext cx="819150" cy="47625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4"/>
          <p:cNvSpPr/>
          <p:nvPr/>
        </p:nvSpPr>
        <p:spPr>
          <a:xfrm>
            <a:off x="1238250" y="1743075"/>
            <a:ext cx="95250" cy="95250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4"/>
          <p:cNvSpPr/>
          <p:nvPr/>
        </p:nvSpPr>
        <p:spPr>
          <a:xfrm>
            <a:off x="1504950" y="1666875"/>
            <a:ext cx="8953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Tích hợp quét QR bằng camera trên trình duyệt.</a:t>
            </a:r>
            <a:endParaRPr/>
          </a:p>
        </p:txBody>
      </p:sp>
      <p:sp>
        <p:nvSpPr>
          <p:cNvPr id="314" name="Google Shape;314;p14"/>
          <p:cNvSpPr/>
          <p:nvPr/>
        </p:nvSpPr>
        <p:spPr>
          <a:xfrm>
            <a:off x="1238250" y="2352675"/>
            <a:ext cx="95250" cy="95250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4"/>
          <p:cNvSpPr/>
          <p:nvPr/>
        </p:nvSpPr>
        <p:spPr>
          <a:xfrm>
            <a:off x="1504950" y="2276475"/>
            <a:ext cx="8953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Bổ sung xác thực và phân quyền chi tiết theo vai trò.</a:t>
            </a:r>
            <a:endParaRPr/>
          </a:p>
        </p:txBody>
      </p:sp>
      <p:sp>
        <p:nvSpPr>
          <p:cNvPr id="316" name="Google Shape;316;p14"/>
          <p:cNvSpPr/>
          <p:nvPr/>
        </p:nvSpPr>
        <p:spPr>
          <a:xfrm>
            <a:off x="1238250" y="2962275"/>
            <a:ext cx="95250" cy="95250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4"/>
          <p:cNvSpPr/>
          <p:nvPr/>
        </p:nvSpPr>
        <p:spPr>
          <a:xfrm>
            <a:off x="1504950" y="2886075"/>
            <a:ext cx="8953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Gửi email, thông báo đẩy và nhắc lịch tự động.</a:t>
            </a:r>
            <a:endParaRPr/>
          </a:p>
        </p:txBody>
      </p:sp>
      <p:sp>
        <p:nvSpPr>
          <p:cNvPr id="318" name="Google Shape;318;p14"/>
          <p:cNvSpPr/>
          <p:nvPr/>
        </p:nvSpPr>
        <p:spPr>
          <a:xfrm>
            <a:off x="1238250" y="3571875"/>
            <a:ext cx="95250" cy="95250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4"/>
          <p:cNvSpPr/>
          <p:nvPr/>
        </p:nvSpPr>
        <p:spPr>
          <a:xfrm>
            <a:off x="1504950" y="3495675"/>
            <a:ext cx="8953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Dashboard phân tích nâng cao theo khoa, loại sự kiện, thời gian.</a:t>
            </a:r>
            <a:endParaRPr/>
          </a:p>
        </p:txBody>
      </p:sp>
      <p:sp>
        <p:nvSpPr>
          <p:cNvPr id="320" name="Google Shape;320;p14"/>
          <p:cNvSpPr/>
          <p:nvPr/>
        </p:nvSpPr>
        <p:spPr>
          <a:xfrm>
            <a:off x="1238250" y="4181475"/>
            <a:ext cx="95250" cy="95250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4"/>
          <p:cNvSpPr/>
          <p:nvPr/>
        </p:nvSpPr>
        <p:spPr>
          <a:xfrm>
            <a:off x="1504950" y="4105275"/>
            <a:ext cx="8953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Khảo sát phản hồi sau sự kiện và liên kết điểm rèn luyện.</a:t>
            </a:r>
            <a:endParaRPr/>
          </a:p>
        </p:txBody>
      </p:sp>
      <p:sp>
        <p:nvSpPr>
          <p:cNvPr id="322" name="Google Shape;322;p14"/>
          <p:cNvSpPr/>
          <p:nvPr/>
        </p:nvSpPr>
        <p:spPr>
          <a:xfrm>
            <a:off x="1238250" y="4791075"/>
            <a:ext cx="95250" cy="95250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4"/>
          <p:cNvSpPr/>
          <p:nvPr/>
        </p:nvSpPr>
        <p:spPr>
          <a:xfrm>
            <a:off x="1504950" y="4714875"/>
            <a:ext cx="8953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Triển khai production và kiểm thử hiệu năng.</a:t>
            </a:r>
            <a:endParaRPr/>
          </a:p>
        </p:txBody>
      </p:sp>
      <p:sp>
        <p:nvSpPr>
          <p:cNvPr id="324" name="Google Shape;324;p14"/>
          <p:cNvSpPr/>
          <p:nvPr/>
        </p:nvSpPr>
        <p:spPr>
          <a:xfrm>
            <a:off x="10096500" y="628650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F6FF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5"/>
          <p:cNvSpPr/>
          <p:nvPr/>
        </p:nvSpPr>
        <p:spPr>
          <a:xfrm>
            <a:off x="1000125" y="857250"/>
            <a:ext cx="9334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Kết luận</a:t>
            </a:r>
            <a:endParaRPr/>
          </a:p>
        </p:txBody>
      </p:sp>
      <p:sp>
        <p:nvSpPr>
          <p:cNvPr id="332" name="Google Shape;332;p15"/>
          <p:cNvSpPr/>
          <p:nvPr/>
        </p:nvSpPr>
        <p:spPr>
          <a:xfrm>
            <a:off x="1619250" y="1952625"/>
            <a:ext cx="8572500" cy="14287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Đề tài đã xây dựng website quản lý sự kiện đáp ứng nghiệp vụ cơ bản trong trường đại học: công bố sự kiện, đăng ký, cấp QR, điểm danh và báo cáo.</a:t>
            </a:r>
            <a:endParaRPr/>
          </a:p>
        </p:txBody>
      </p:sp>
      <p:sp>
        <p:nvSpPr>
          <p:cNvPr id="333" name="Google Shape;333;p15"/>
          <p:cNvSpPr/>
          <p:nvPr/>
        </p:nvSpPr>
        <p:spPr>
          <a:xfrm>
            <a:off x="3238500" y="3905250"/>
            <a:ext cx="5715000" cy="47625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5"/>
          <p:cNvSpPr/>
          <p:nvPr/>
        </p:nvSpPr>
        <p:spPr>
          <a:xfrm>
            <a:off x="2000250" y="4524375"/>
            <a:ext cx="81915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Em xin cảm ơn quý thầy cô đã lắng nghe.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Rất mong nhận được góp ý để hoàn thiện đề tài hơn.</a:t>
            </a:r>
            <a:endParaRPr/>
          </a:p>
        </p:txBody>
      </p:sp>
      <p:sp>
        <p:nvSpPr>
          <p:cNvPr id="335" name="Google Shape;335;p15"/>
          <p:cNvSpPr/>
          <p:nvPr/>
        </p:nvSpPr>
        <p:spPr>
          <a:xfrm>
            <a:off x="5334000" y="619125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Q&amp;A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eea083aef8_0_0"/>
          <p:cNvSpPr/>
          <p:nvPr/>
        </p:nvSpPr>
        <p:spPr>
          <a:xfrm>
            <a:off x="1619250" y="1952625"/>
            <a:ext cx="8572500" cy="14289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1E3A8A"/>
                </a:solidFill>
              </a:rPr>
              <a:t>Link bài thuyết trình:</a:t>
            </a:r>
            <a:endParaRPr b="1" sz="2250">
              <a:solidFill>
                <a:srgbClr val="1E3A8A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1E3A8A"/>
                </a:solidFill>
              </a:rPr>
              <a:t>https://drive.google.com/file/d/1rOlIzaZ-I4dSHatdUk43zNHvhRsMhHQ8/view?usp=sharing</a:t>
            </a:r>
            <a:endParaRPr b="1" sz="2250">
              <a:solidFill>
                <a:srgbClr val="1E3A8A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